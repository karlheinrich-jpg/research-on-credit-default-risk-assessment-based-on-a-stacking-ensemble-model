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8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621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b="1">
                <a:latin typeface="Cambria" pitchFamily="34" charset="0"/>
                <a:ea typeface="Cambria" pitchFamily="34" charset="-122"/>
                <a:cs typeface="Cambria" pitchFamily="34" charset="-120"/>
              </a:rPr>
              <a:t>Credit Default Risk Assessment Model Framework</a:t>
            </a:r>
            <a:endParaRPr lang="en-US" altLang="zh-CN" dirty="0"/>
          </a:p>
        </p:txBody>
      </p:sp>
      <p:sp>
        <p:nvSpPr>
          <p:cNvPr id="3" name="Shape 1"/>
          <p:cNvSpPr/>
          <p:nvPr/>
        </p:nvSpPr>
        <p:spPr>
          <a:xfrm>
            <a:off x="2926080" y="530352"/>
            <a:ext cx="3291840" cy="0"/>
          </a:xfrm>
          <a:prstGeom prst="line">
            <a:avLst/>
          </a:prstGeom>
          <a:noFill/>
          <a:ln w="25400">
            <a:solidFill>
              <a:srgbClr val="B83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58368"/>
            <a:ext cx="8595360" cy="62179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3B6FA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84048" y="576072"/>
            <a:ext cx="1174090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576072"/>
            <a:ext cx="11740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6F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Preprocessing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841248"/>
            <a:ext cx="1737360" cy="274320"/>
          </a:xfrm>
          <a:prstGeom prst="rect">
            <a:avLst/>
          </a:prstGeom>
          <a:solidFill>
            <a:srgbClr val="D6E6F5"/>
          </a:solidFill>
          <a:ln w="15240">
            <a:solidFill>
              <a:srgbClr val="3B6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412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8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Processed Credit Features</a:t>
            </a:r>
            <a:endParaRPr lang="en-US" altLang="zh-CN" sz="8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86000" y="841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06040" y="841248"/>
            <a:ext cx="1737360" cy="274320"/>
          </a:xfrm>
          <a:prstGeom prst="rect">
            <a:avLst/>
          </a:prstGeom>
          <a:solidFill>
            <a:srgbClr val="D6E6F5"/>
          </a:solidFill>
          <a:ln w="15240">
            <a:solidFill>
              <a:srgbClr val="3B6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8412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8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Default Labels  (isDefault)</a:t>
            </a:r>
            <a:endParaRPr lang="en-US" altLang="zh-C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0" y="841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3" name="Shape 11"/>
          <p:cNvSpPr/>
          <p:nvPr/>
        </p:nvSpPr>
        <p:spPr>
          <a:xfrm>
            <a:off x="5029200" y="841248"/>
            <a:ext cx="1371600" cy="27432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841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/ Test Split  (8 : 2)</a:t>
            </a:r>
            <a:endParaRPr lang="en-US" altLang="zh-CN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46520" y="841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6" name="Shape 14"/>
          <p:cNvSpPr/>
          <p:nvPr/>
        </p:nvSpPr>
        <p:spPr>
          <a:xfrm>
            <a:off x="6903720" y="841248"/>
            <a:ext cx="1737360" cy="274320"/>
          </a:xfrm>
          <a:prstGeom prst="rect">
            <a:avLst/>
          </a:prstGeom>
          <a:solidFill>
            <a:srgbClr val="3B6FA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903720" y="8412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MinMaxScaler(transform only)</a:t>
            </a:r>
            <a:endParaRPr lang="en-US" sz="800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0" y="1280160"/>
            <a:ext cx="0" cy="32766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517136" y="1389888"/>
            <a:ext cx="109728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1690116"/>
            <a:ext cx="8595360" cy="251460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D4770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84048" y="1607820"/>
            <a:ext cx="2712110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1607820"/>
            <a:ext cx="27121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477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Multi-Seed Randomized Search &amp; Cross-Validation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22960" y="1946148"/>
            <a:ext cx="192024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19461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XGBoost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783080" y="2220468"/>
            <a:ext cx="0" cy="12801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sp>
      <p:sp>
        <p:nvSpPr>
          <p:cNvPr id="26" name="Text 24"/>
          <p:cNvSpPr/>
          <p:nvPr/>
        </p:nvSpPr>
        <p:spPr>
          <a:xfrm>
            <a:off x="1728216" y="22936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22960" y="2403348"/>
            <a:ext cx="1920240" cy="274320"/>
          </a:xfrm>
          <a:prstGeom prst="rect">
            <a:avLst/>
          </a:prstGeom>
          <a:solidFill>
            <a:srgbClr val="F4F5F7"/>
          </a:solidFill>
          <a:ln w="15240">
            <a:solidFill>
              <a:srgbClr val="C8C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4033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RandomizedSearchCV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783080" y="2677668"/>
            <a:ext cx="0" cy="12801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sp>
      <p:sp>
        <p:nvSpPr>
          <p:cNvPr id="30" name="Text 28"/>
          <p:cNvSpPr/>
          <p:nvPr/>
        </p:nvSpPr>
        <p:spPr>
          <a:xfrm>
            <a:off x="1728216" y="27508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22960" y="2860548"/>
            <a:ext cx="1920240" cy="274320"/>
          </a:xfrm>
          <a:prstGeom prst="rect">
            <a:avLst/>
          </a:prstGeom>
          <a:solidFill>
            <a:srgbClr val="F4F5F7"/>
          </a:solidFill>
          <a:ln w="15240">
            <a:solidFill>
              <a:srgbClr val="C8CC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22960" y="28605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80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3-Fold Stratified Cross-Validation (AUC)</a:t>
            </a:r>
            <a:endParaRPr lang="en-US" sz="800" dirty="0">
              <a:solidFill>
                <a:srgbClr val="4A4A4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783080" y="3134868"/>
            <a:ext cx="0" cy="12801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sp>
      <p:sp>
        <p:nvSpPr>
          <p:cNvPr id="34" name="Text 32"/>
          <p:cNvSpPr/>
          <p:nvPr/>
        </p:nvSpPr>
        <p:spPr>
          <a:xfrm>
            <a:off x="1728216" y="32080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22960" y="3317748"/>
            <a:ext cx="1920240" cy="274320"/>
          </a:xfrm>
          <a:prstGeom prst="rect">
            <a:avLst/>
          </a:prstGeom>
          <a:solidFill>
            <a:srgbClr val="FFF8F0"/>
          </a:solidFill>
          <a:ln w="15240">
            <a:solidFill>
              <a:srgbClr val="D477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3177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800" b="1">
                <a:solidFill>
                  <a:srgbClr val="D477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Random Seeds [0,1,2,3,4,5]</a:t>
            </a:r>
            <a:endParaRPr lang="en-US" sz="800" b="1" dirty="0">
              <a:solidFill>
                <a:srgbClr val="D4770B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783080" y="3592068"/>
            <a:ext cx="0" cy="12801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sp>
      <p:sp>
        <p:nvSpPr>
          <p:cNvPr id="38" name="Text 36"/>
          <p:cNvSpPr/>
          <p:nvPr/>
        </p:nvSpPr>
        <p:spPr>
          <a:xfrm>
            <a:off x="1728216" y="36652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60120" y="3756660"/>
            <a:ext cx="1645920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C8CC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37566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750" i="1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Seed-Specific Best Estimators</a:t>
            </a:r>
            <a:endParaRPr lang="en-US" altLang="zh-CN" sz="750" i="1" dirty="0">
              <a:solidFill>
                <a:srgbClr val="4A4A4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611880" y="1946148"/>
            <a:ext cx="1920240" cy="274320"/>
          </a:xfrm>
          <a:prstGeom prst="rect">
            <a:avLst/>
          </a:prstGeom>
          <a:solidFill>
            <a:srgbClr val="1A8A7D"/>
          </a:solidFill>
          <a:ln/>
        </p:spPr>
      </p:sp>
      <p:sp>
        <p:nvSpPr>
          <p:cNvPr id="42" name="Text 40"/>
          <p:cNvSpPr/>
          <p:nvPr/>
        </p:nvSpPr>
        <p:spPr>
          <a:xfrm>
            <a:off x="3611880" y="19461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LightGBM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572000" y="2220468"/>
            <a:ext cx="0" cy="12801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sp>
      <p:sp>
        <p:nvSpPr>
          <p:cNvPr id="44" name="Text 42"/>
          <p:cNvSpPr/>
          <p:nvPr/>
        </p:nvSpPr>
        <p:spPr>
          <a:xfrm>
            <a:off x="4517136" y="22936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611880" y="2403348"/>
            <a:ext cx="1920240" cy="274320"/>
          </a:xfrm>
          <a:prstGeom prst="rect">
            <a:avLst/>
          </a:prstGeom>
          <a:solidFill>
            <a:srgbClr val="F4F5F7"/>
          </a:solidFill>
          <a:ln w="15240">
            <a:solidFill>
              <a:srgbClr val="C8CC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11880" y="24033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RandomizedSearchCV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572000" y="2677668"/>
            <a:ext cx="0" cy="12801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sp>
      <p:sp>
        <p:nvSpPr>
          <p:cNvPr id="48" name="Text 46"/>
          <p:cNvSpPr/>
          <p:nvPr/>
        </p:nvSpPr>
        <p:spPr>
          <a:xfrm>
            <a:off x="4517136" y="27508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611880" y="2860548"/>
            <a:ext cx="1920240" cy="274320"/>
          </a:xfrm>
          <a:prstGeom prst="rect">
            <a:avLst/>
          </a:prstGeom>
          <a:solidFill>
            <a:srgbClr val="F4F5F7"/>
          </a:solidFill>
          <a:ln w="15240">
            <a:solidFill>
              <a:srgbClr val="C8CC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11880" y="28605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80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3-Fold Stratified Cross-Validation (AUC)</a:t>
            </a:r>
            <a:endParaRPr lang="en-US" altLang="zh-CN" sz="800" dirty="0">
              <a:solidFill>
                <a:srgbClr val="4A4A4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572000" y="3134868"/>
            <a:ext cx="0" cy="12801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sp>
      <p:sp>
        <p:nvSpPr>
          <p:cNvPr id="52" name="Text 50"/>
          <p:cNvSpPr/>
          <p:nvPr/>
        </p:nvSpPr>
        <p:spPr>
          <a:xfrm>
            <a:off x="4517136" y="32080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611880" y="3317748"/>
            <a:ext cx="1920240" cy="274320"/>
          </a:xfrm>
          <a:prstGeom prst="rect">
            <a:avLst/>
          </a:prstGeom>
          <a:solidFill>
            <a:srgbClr val="FFF8F0"/>
          </a:solidFill>
          <a:ln w="15240">
            <a:solidFill>
              <a:srgbClr val="D477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11880" y="33177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800" b="1">
                <a:solidFill>
                  <a:srgbClr val="D477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Random Seeds [0,1,2,3,4,5]</a:t>
            </a:r>
            <a:endParaRPr lang="en-US" altLang="zh-CN" sz="800" b="1" dirty="0">
              <a:solidFill>
                <a:srgbClr val="D4770B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572000" y="3592068"/>
            <a:ext cx="0" cy="12801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sp>
      <p:sp>
        <p:nvSpPr>
          <p:cNvPr id="56" name="Text 54"/>
          <p:cNvSpPr/>
          <p:nvPr/>
        </p:nvSpPr>
        <p:spPr>
          <a:xfrm>
            <a:off x="4517136" y="36652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3749040" y="3756660"/>
            <a:ext cx="1645920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C8CC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49040" y="37566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750" i="1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Seed-Specific Best Estimators</a:t>
            </a:r>
            <a:endParaRPr lang="en-US" altLang="zh-CN" sz="750" i="1" dirty="0">
              <a:solidFill>
                <a:srgbClr val="4A4A4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400800" y="1946148"/>
            <a:ext cx="1920240" cy="2743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0" y="19461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CatBoost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360920" y="2220468"/>
            <a:ext cx="0" cy="12801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sp>
      <p:sp>
        <p:nvSpPr>
          <p:cNvPr id="62" name="Text 60"/>
          <p:cNvSpPr/>
          <p:nvPr/>
        </p:nvSpPr>
        <p:spPr>
          <a:xfrm>
            <a:off x="7306056" y="22936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6400800" y="2403348"/>
            <a:ext cx="1920240" cy="274320"/>
          </a:xfrm>
          <a:prstGeom prst="rect">
            <a:avLst/>
          </a:prstGeom>
          <a:solidFill>
            <a:srgbClr val="F4F5F7"/>
          </a:solidFill>
          <a:ln w="15240">
            <a:solidFill>
              <a:srgbClr val="C8CC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0" y="24033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RandomizedSearchCV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7360920" y="2677668"/>
            <a:ext cx="0" cy="12801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sp>
      <p:sp>
        <p:nvSpPr>
          <p:cNvPr id="66" name="Text 64"/>
          <p:cNvSpPr/>
          <p:nvPr/>
        </p:nvSpPr>
        <p:spPr>
          <a:xfrm>
            <a:off x="7306056" y="27508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6400800" y="2860548"/>
            <a:ext cx="1920240" cy="274320"/>
          </a:xfrm>
          <a:prstGeom prst="rect">
            <a:avLst/>
          </a:prstGeom>
          <a:solidFill>
            <a:srgbClr val="F4F5F7"/>
          </a:solidFill>
          <a:ln w="15240">
            <a:solidFill>
              <a:srgbClr val="C8CCD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0" y="28605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80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3-Fold Stratified Cross-Validation (AUC)</a:t>
            </a:r>
            <a:endParaRPr lang="en-US" altLang="zh-CN" sz="800" dirty="0">
              <a:solidFill>
                <a:srgbClr val="4A4A4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7360920" y="3134868"/>
            <a:ext cx="0" cy="12801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sp>
      <p:sp>
        <p:nvSpPr>
          <p:cNvPr id="70" name="Text 68"/>
          <p:cNvSpPr/>
          <p:nvPr/>
        </p:nvSpPr>
        <p:spPr>
          <a:xfrm>
            <a:off x="7306056" y="32080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6400800" y="3317748"/>
            <a:ext cx="1920240" cy="274320"/>
          </a:xfrm>
          <a:prstGeom prst="rect">
            <a:avLst/>
          </a:prstGeom>
          <a:solidFill>
            <a:srgbClr val="FFF8F0"/>
          </a:solidFill>
          <a:ln w="15240">
            <a:solidFill>
              <a:srgbClr val="D477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00800" y="33177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800" b="1">
                <a:solidFill>
                  <a:srgbClr val="D477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Random Seeds [0,1,2,3,4,5]</a:t>
            </a:r>
            <a:endParaRPr lang="en-US" altLang="zh-CN" sz="800" b="1" dirty="0">
              <a:solidFill>
                <a:srgbClr val="D4770B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360920" y="3592068"/>
            <a:ext cx="0" cy="12801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sp>
      <p:sp>
        <p:nvSpPr>
          <p:cNvPr id="74" name="Text 72"/>
          <p:cNvSpPr/>
          <p:nvPr/>
        </p:nvSpPr>
        <p:spPr>
          <a:xfrm>
            <a:off x="7306056" y="36652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6537960" y="3756660"/>
            <a:ext cx="1645920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C8CCD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37960" y="37566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750" i="1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Seed-Specific Best Estimators</a:t>
            </a:r>
            <a:endParaRPr lang="en-US" sz="750" i="1" dirty="0">
              <a:solidFill>
                <a:srgbClr val="4A4A4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4572000" y="4204716"/>
            <a:ext cx="0" cy="12801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sp>
      <p:sp>
        <p:nvSpPr>
          <p:cNvPr id="78" name="Text 76"/>
          <p:cNvSpPr/>
          <p:nvPr/>
        </p:nvSpPr>
        <p:spPr>
          <a:xfrm>
            <a:off x="4517136" y="427786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274320" y="4387596"/>
            <a:ext cx="8595360" cy="566928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B83230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384048" y="4305300"/>
            <a:ext cx="1916582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384048" y="4305300"/>
            <a:ext cx="19165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32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Intra-Model Soft Voting Ensemble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822960" y="4552188"/>
            <a:ext cx="1920240" cy="310896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822960" y="45521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XGBoost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Soft Voting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3611880" y="4552188"/>
            <a:ext cx="1920240" cy="310896"/>
          </a:xfrm>
          <a:prstGeom prst="rect">
            <a:avLst/>
          </a:prstGeom>
          <a:solidFill>
            <a:srgbClr val="1A8A7D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3611880" y="45521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LightGBM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Soft Voting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6400800" y="4552188"/>
            <a:ext cx="1920240" cy="310896"/>
          </a:xfrm>
          <a:prstGeom prst="rect">
            <a:avLst/>
          </a:prstGeom>
          <a:solidFill>
            <a:srgbClr val="2E7D5B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6400800" y="45521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CatBoost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Soft Voting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4572000" y="4954524"/>
            <a:ext cx="0" cy="12801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sp>
      <p:sp>
        <p:nvSpPr>
          <p:cNvPr id="89" name="Text 87"/>
          <p:cNvSpPr/>
          <p:nvPr/>
        </p:nvSpPr>
        <p:spPr>
          <a:xfrm>
            <a:off x="4517136" y="502767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274320" y="5137404"/>
            <a:ext cx="8595360" cy="71323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6B4C8A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384048" y="5055108"/>
            <a:ext cx="1280160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Text 90"/>
          <p:cNvSpPr/>
          <p:nvPr/>
        </p:nvSpPr>
        <p:spPr>
          <a:xfrm>
            <a:off x="384048" y="50551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4C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Inter-Model Ensemble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731520" y="5338572"/>
            <a:ext cx="32004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6B4C8A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31520" y="53385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4C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Stacking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1828800" y="53385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altLang="zh-CN" sz="80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Logistic Regression Meta-Classifier</a:t>
            </a:r>
            <a:endParaRPr lang="en-US" sz="800" dirty="0">
              <a:solidFill>
                <a:srgbClr val="4A4A4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5212080" y="5338572"/>
            <a:ext cx="32004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6B4C8A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5212080" y="53385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4C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Soft Voting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6492240" y="53385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Probability Averaging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4572000" y="5850636"/>
            <a:ext cx="0" cy="12801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sp>
      <p:sp>
        <p:nvSpPr>
          <p:cNvPr id="100" name="Text 98"/>
          <p:cNvSpPr/>
          <p:nvPr/>
        </p:nvSpPr>
        <p:spPr>
          <a:xfrm>
            <a:off x="4517136" y="592378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2286000" y="6033516"/>
            <a:ext cx="4572000" cy="347472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2286000" y="603351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altLang="zh-CN" sz="1050" b="1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05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Evaluation: Accuracy · Macro Precision · Macro Recall · Macro F1-score · ROC-AUC · Class-1 Metrics · Confusion Matrix</a:t>
            </a:r>
          </a:p>
          <a:p>
            <a:pPr marL="0" indent="0" algn="ctr">
              <a:buNone/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 20">
            <a:extLst>
              <a:ext uri="{FF2B5EF4-FFF2-40B4-BE49-F238E27FC236}">
                <a16:creationId xmlns:a16="http://schemas.microsoft.com/office/drawing/2014/main" id="{D2691A26-F2D7-2693-932C-FC834351CFEC}"/>
              </a:ext>
            </a:extLst>
          </p:cNvPr>
          <p:cNvSpPr/>
          <p:nvPr/>
        </p:nvSpPr>
        <p:spPr>
          <a:xfrm>
            <a:off x="3215945" y="1379220"/>
            <a:ext cx="2712110" cy="16459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D477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SMOTE</a:t>
            </a:r>
            <a:r>
              <a:rPr lang="zh-CN" altLang="en-US" sz="1000" b="1">
                <a:solidFill>
                  <a:srgbClr val="D477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b="1">
                <a:solidFill>
                  <a:srgbClr val="D477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to training set only</a:t>
            </a:r>
            <a:r>
              <a:rPr lang="zh-CN" altLang="en-US" sz="1000" b="1">
                <a:solidFill>
                  <a:srgbClr val="D477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sz="1000" b="1" dirty="0">
              <a:solidFill>
                <a:srgbClr val="D4770B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163</Words>
  <Application>Microsoft Office PowerPoint</Application>
  <PresentationFormat>全屏显示(4:3)</PresentationFormat>
  <Paragraphs>57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Cambria</vt:lpstr>
      <vt:lpstr>Times New Roman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 Graded Early Warning Model Framework</dc:title>
  <dc:subject>PptxGenJS Presentation</dc:subject>
  <dc:creator>Research</dc:creator>
  <cp:lastModifiedBy>浩 李</cp:lastModifiedBy>
  <cp:revision>7</cp:revision>
  <dcterms:created xsi:type="dcterms:W3CDTF">2026-02-17T13:17:13Z</dcterms:created>
  <dcterms:modified xsi:type="dcterms:W3CDTF">2026-03-08T09:21:03Z</dcterms:modified>
</cp:coreProperties>
</file>